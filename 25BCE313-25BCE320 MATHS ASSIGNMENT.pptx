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7492677-3341-cd02-d2d7-f1ac7eaadae2}">
          <p14:sldIdLst>
            <p14:sldId id="256"/>
          </p14:sldIdLst>
        </p14:section>
        <p14:section name="Theory" id="{71b2a2d5-3dc7-0aba-3178-02c62c3d6f79}">
          <p14:sldIdLst>
            <p14:sldId id="257"/>
            <p14:sldId id="258"/>
            <p14:sldId id="259"/>
            <p14:sldId id="260"/>
          </p14:sldIdLst>
        </p14:section>
        <p14:section name="Implementation" id="{8506571f-b9a2-35d4-bf92-6b7e5558fe08}">
          <p14:sldIdLst>
            <p14:sldId id="261"/>
            <p14:sldId id="262"/>
          </p14:sldIdLst>
        </p14:section>
        <p14:section name="Demo" id="{1a1e8925-3602-8936-2226-ae85cf9be88f}">
          <p14:sldIdLst>
            <p14:sldId id="263"/>
            <p14:sldId id="264"/>
            <p14:sldId id="265"/>
          </p14:sldIdLst>
        </p14:section>
        <p14:section name="Closing" id="{945c2fb2-c591-384d-4f3e-194a730c4af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103120"/>
            <a:ext cx="10671048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rma University Institute of Technolog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11480"/>
            <a:ext cx="2286000" cy="12188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58952" y="182880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MFCS ASSIGNMENT · COURSE CODE: 2CS802CC26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58952" y="2103120"/>
            <a:ext cx="10671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Database Concurrency &amp; Deadlock Resolution Engine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58952" y="36118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Distributed Concurrency &amp; Deadlock Management Service: graph-based deadlock detection with a Tri-State DFS, served as a FastAPI microservice.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58952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SUBMITTED BY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" y="4892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1. Shailya Patel (25BCE320)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2. Shlok Shah (25BCE313)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DEPARTMENT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892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CSE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Semester 3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626364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Python 3.10+ · FastAPI · Uvicorn · Pydantic v2 · Requests · C++ Client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02 · PROBLEM STATEMENT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Concurrent transactions compete for locks, and circular waits freeze the system</a:t>
            </a:r>
            <a:endParaRPr lang="en-US" sz="2800" dirty="0"/>
          </a:p>
        </p:txBody>
      </p:sp>
      <p:sp>
        <p:nvSpPr>
          <p:cNvPr id="4" name="The Risk card"/>
          <p:cNvSpPr/>
          <p:nvPr/>
        </p:nvSpPr>
        <p:spPr>
          <a:xfrm>
            <a:off x="758952" y="2057400"/>
            <a:ext cx="3416808" cy="3154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he Risk accent"/>
          <p:cNvSpPr/>
          <p:nvPr/>
        </p:nvSpPr>
        <p:spPr>
          <a:xfrm>
            <a:off x="758952" y="2057400"/>
            <a:ext cx="3416808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28600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Risk</a:t>
            </a:r>
            <a:endParaRPr lang="en-US" sz="1700" dirty="0"/>
          </a:p>
        </p:txBody>
      </p:sp>
      <p:sp>
        <p:nvSpPr>
          <p:cNvPr id="7" name="The Risk points"/>
          <p:cNvSpPr txBox="1"/>
          <p:nvPr/>
        </p:nvSpPr>
        <p:spPr>
          <a:xfrm>
            <a:off x="987552" y="2788920"/>
            <a:ext cx="29596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Multiple threads lock shared rows and tables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Tx A holds a lock Tx B needs, and B holds one A needs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Neither can proceed; resources stay locked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Throughput collapses as others queue behind them</a:t>
            </a:r>
            <a:endParaRPr lang="en-US" sz="1350" dirty="0"/>
          </a:p>
        </p:txBody>
      </p:sp>
      <p:sp>
        <p:nvSpPr>
          <p:cNvPr id="8" name="The Need card"/>
          <p:cNvSpPr/>
          <p:nvPr/>
        </p:nvSpPr>
        <p:spPr>
          <a:xfrm>
            <a:off x="4386072" y="2057400"/>
            <a:ext cx="3416808" cy="3154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he Need accent"/>
          <p:cNvSpPr/>
          <p:nvPr/>
        </p:nvSpPr>
        <p:spPr>
          <a:xfrm>
            <a:off x="4386072" y="2057400"/>
            <a:ext cx="3416808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4672" y="228600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Need</a:t>
            </a:r>
            <a:endParaRPr lang="en-US" sz="1700" dirty="0"/>
          </a:p>
        </p:txBody>
      </p:sp>
      <p:sp>
        <p:nvSpPr>
          <p:cNvPr id="11" name="The Need points"/>
          <p:cNvSpPr txBox="1"/>
          <p:nvPr/>
        </p:nvSpPr>
        <p:spPr>
          <a:xfrm>
            <a:off x="4614672" y="2788920"/>
            <a:ext cx="29596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Detect deadlock the moment it forms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Resolve without manual intervention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Abort the minimum: one victim per cycle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Keep unaffected transactions running</a:t>
            </a:r>
            <a:endParaRPr lang="en-US" sz="1350" dirty="0"/>
          </a:p>
        </p:txBody>
      </p:sp>
      <p:sp>
        <p:nvSpPr>
          <p:cNvPr id="12" name="Our Answer card"/>
          <p:cNvSpPr/>
          <p:nvPr/>
        </p:nvSpPr>
        <p:spPr>
          <a:xfrm>
            <a:off x="8013192" y="2057400"/>
            <a:ext cx="3416808" cy="3154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Our Answer accent"/>
          <p:cNvSpPr/>
          <p:nvPr/>
        </p:nvSpPr>
        <p:spPr>
          <a:xfrm>
            <a:off x="8013192" y="2057400"/>
            <a:ext cx="3416808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1792" y="228600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Our Answer</a:t>
            </a:r>
            <a:endParaRPr lang="en-US" sz="1700" dirty="0"/>
          </a:p>
        </p:txBody>
      </p:sp>
      <p:sp>
        <p:nvSpPr>
          <p:cNvPr id="15" name="Our Answer points"/>
          <p:cNvSpPr txBox="1"/>
          <p:nvPr/>
        </p:nvSpPr>
        <p:spPr>
          <a:xfrm>
            <a:off x="8241792" y="2788920"/>
            <a:ext cx="29596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Model lock waits as a directed graph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Run cycle detection on every new wait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Abort a victim and prune the graph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chemeClr val="accent6"/>
                </a:solidFill>
              </a:rPr>
              <a:t>Expose it all through a REST API</a:t>
            </a:r>
            <a:endParaRPr lang="en-US" sz="1350" dirty="0"/>
          </a:p>
        </p:txBody>
      </p:sp>
      <p:sp>
        <p:nvSpPr>
          <p:cNvPr id="16" name="note box"/>
          <p:cNvSpPr/>
          <p:nvPr/>
        </p:nvSpPr>
        <p:spPr>
          <a:xfrm>
            <a:off x="758952" y="5440680"/>
            <a:ext cx="10671048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note accent"/>
          <p:cNvSpPr/>
          <p:nvPr/>
        </p:nvSpPr>
        <p:spPr>
          <a:xfrm>
            <a:off x="758952" y="5440680"/>
            <a:ext cx="4572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note text"/>
          <p:cNvSpPr txBox="1"/>
          <p:nvPr/>
        </p:nvSpPr>
        <p:spPr>
          <a:xfrm>
            <a:off x="987552" y="5440680"/>
            <a:ext cx="10305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deadlock requires four conditions: mutual exclusion, hold-and-wait, no preemption, circular wait. This engine detects the last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03 · THEORETICAL ARCHITECTURE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Transactions become vertices; lock waits become directed edges</a:t>
            </a:r>
            <a:endParaRPr lang="en-US" sz="2800" dirty="0"/>
          </a:p>
        </p:txBody>
      </p:sp>
      <p:sp>
        <p:nvSpPr>
          <p:cNvPr id="4" name="bullets"/>
          <p:cNvSpPr txBox="1"/>
          <p:nvPr/>
        </p:nvSpPr>
        <p:spPr>
          <a:xfrm>
            <a:off x="758952" y="210312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6"/>
                </a:solidFill>
              </a:rPr>
              <a:t>Vertices (V)</a:t>
            </a:r>
            <a:r>
              <a:rPr lang="en-US" sz="1500" dirty="0">
                <a:solidFill>
                  <a:schemeClr val="accent6"/>
                </a:solidFill>
              </a:rPr>
              <a:t>: active transactions, e.g. </a:t>
            </a: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Tx1, Tx2, Tx3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6"/>
                </a:solidFill>
              </a:rPr>
              <a:t>Directed edges (E)</a:t>
            </a:r>
            <a:r>
              <a:rPr lang="en-US" sz="1500" dirty="0">
                <a:solidFill>
                  <a:schemeClr val="accent6"/>
                </a:solidFill>
              </a:rPr>
              <a:t>: wait-states between transactions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TxA → TxB</a:t>
            </a:r>
            <a:r>
              <a:rPr lang="en-US" sz="1500" dirty="0">
                <a:solidFill>
                  <a:schemeClr val="accent6"/>
                </a:solidFill>
              </a:rPr>
              <a:t> means A is waiting for a lock held by B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A directed cycle in the graph is exactly a deadlock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No cycle means every transaction can eventually finish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Edges are added when a lock request is blocked</a:t>
            </a:r>
            <a:endParaRPr lang="en-US" sz="1500" dirty="0"/>
          </a:p>
        </p:txBody>
      </p:sp>
      <p:sp>
        <p:nvSpPr>
          <p:cNvPr id="5" name="edge Tx1-Tx2"/>
          <p:cNvSpPr/>
          <p:nvPr/>
        </p:nvSpPr>
        <p:spPr>
          <a:xfrm>
            <a:off x="7680960" y="2743200"/>
            <a:ext cx="2194560" cy="914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edge Tx2-Tx3"/>
          <p:cNvSpPr/>
          <p:nvPr/>
        </p:nvSpPr>
        <p:spPr>
          <a:xfrm flipH="1">
            <a:off x="9035328" y="3121271"/>
            <a:ext cx="1040304" cy="1529858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edge Tx3-Tx1"/>
          <p:cNvSpPr/>
          <p:nvPr/>
        </p:nvSpPr>
        <p:spPr>
          <a:xfrm flipH="1" flipV="1">
            <a:off x="7480848" y="3121271"/>
            <a:ext cx="1040304" cy="1529858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node Tx1"/>
          <p:cNvSpPr/>
          <p:nvPr/>
        </p:nvSpPr>
        <p:spPr>
          <a:xfrm>
            <a:off x="6812280" y="23317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Tx1</a:t>
            </a:r>
            <a:endParaRPr lang="en-US" sz="1500" dirty="0"/>
          </a:p>
        </p:txBody>
      </p:sp>
      <p:sp>
        <p:nvSpPr>
          <p:cNvPr id="9" name="node Tx2"/>
          <p:cNvSpPr/>
          <p:nvPr/>
        </p:nvSpPr>
        <p:spPr>
          <a:xfrm>
            <a:off x="9921240" y="23317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Tx2</a:t>
            </a:r>
            <a:endParaRPr lang="en-US" sz="1500" dirty="0"/>
          </a:p>
        </p:txBody>
      </p:sp>
      <p:sp>
        <p:nvSpPr>
          <p:cNvPr id="10" name="node Tx3"/>
          <p:cNvSpPr/>
          <p:nvPr/>
        </p:nvSpPr>
        <p:spPr>
          <a:xfrm>
            <a:off x="8366760" y="46177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Tx3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04 · WAIT-FOR GRAPH MODEL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 in-memory adjacency list holds the global dependency state</a:t>
            </a:r>
            <a:endParaRPr lang="en-US" sz="2800" dirty="0"/>
          </a:p>
        </p:txBody>
      </p:sp>
      <p:sp>
        <p:nvSpPr>
          <p:cNvPr id="4" name="code box"/>
          <p:cNvSpPr/>
          <p:nvPr/>
        </p:nvSpPr>
        <p:spPr>
          <a:xfrm>
            <a:off x="758952" y="2103120"/>
            <a:ext cx="5029200" cy="393192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</p:sp>
      <p:sp>
        <p:nvSpPr>
          <p:cNvPr id="5" name="code text"/>
          <p:cNvSpPr txBox="1"/>
          <p:nvPr/>
        </p:nvSpPr>
        <p:spPr>
          <a:xfrm>
            <a:off x="987552" y="228600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self.wfg: Dict[str, Set[str]]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Tx1 waits for Tx2,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Tx2 waits for Tx3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"Tx1": {"Tx2"},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"Tx2": {"Tx3"},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"Tx3": set()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add_edge(requester, holder):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self-wait -&gt; HTTP 400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wfg[requester].add(holder)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wfg.setdefault(holder, set())</a:t>
            </a:r>
            <a:endParaRPr lang="en-US" sz="1200" dirty="0"/>
          </a:p>
        </p:txBody>
      </p:sp>
      <p:sp>
        <p:nvSpPr>
          <p:cNvPr id="6" name="bullets"/>
          <p:cNvSpPr txBox="1"/>
          <p:nvPr/>
        </p:nvSpPr>
        <p:spPr>
          <a:xfrm>
            <a:off x="6217920" y="210312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Dict of sets: duplicate edges impossible, O(1) insert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Holder is registered as a node on every edge, so traversal never hits a missing key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A transaction waiting on itself is rejected with HTTP 400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remove_transaction</a:t>
            </a:r>
            <a:r>
              <a:rPr lang="en-US" sz="1400" dirty="0">
                <a:solidFill>
                  <a:schemeClr val="accent6"/>
                </a:solidFill>
              </a:rPr>
              <a:t> deletes the node and discards it from every neighbour set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Space cost is O(V + E)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One global engine instance holds the shared state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05 · ALGORITHM DESIGN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Tri-State DFS isolates back-edges in O(V + E)</a:t>
            </a:r>
            <a:endParaRPr lang="en-US" sz="2800" dirty="0"/>
          </a:p>
        </p:txBody>
      </p:sp>
      <p:sp>
        <p:nvSpPr>
          <p:cNvPr id="4" name="state 0 card"/>
          <p:cNvSpPr/>
          <p:nvPr/>
        </p:nvSpPr>
        <p:spPr>
          <a:xfrm>
            <a:off x="758952" y="2057400"/>
            <a:ext cx="3416808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tate 0 accent"/>
          <p:cNvSpPr/>
          <p:nvPr/>
        </p:nvSpPr>
        <p:spPr>
          <a:xfrm>
            <a:off x="758952" y="2057400"/>
            <a:ext cx="3416808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834640"/>
            <a:ext cx="295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Unvisited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00400"/>
            <a:ext cx="295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Not yet explored</a:t>
            </a:r>
            <a:endParaRPr lang="en-US" sz="1300" dirty="0"/>
          </a:p>
        </p:txBody>
      </p:sp>
      <p:sp>
        <p:nvSpPr>
          <p:cNvPr id="9" name="state 1 card"/>
          <p:cNvSpPr/>
          <p:nvPr/>
        </p:nvSpPr>
        <p:spPr>
          <a:xfrm>
            <a:off x="4386072" y="2057400"/>
            <a:ext cx="3416808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tate 1 accent"/>
          <p:cNvSpPr/>
          <p:nvPr/>
        </p:nvSpPr>
        <p:spPr>
          <a:xfrm>
            <a:off x="4386072" y="2057400"/>
            <a:ext cx="3416808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4672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14672" y="2834640"/>
            <a:ext cx="295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4672" y="3200400"/>
            <a:ext cx="295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 the current DFS stack</a:t>
            </a:r>
            <a:endParaRPr lang="en-US" sz="1300" dirty="0"/>
          </a:p>
        </p:txBody>
      </p:sp>
      <p:sp>
        <p:nvSpPr>
          <p:cNvPr id="14" name="state 2 card"/>
          <p:cNvSpPr/>
          <p:nvPr/>
        </p:nvSpPr>
        <p:spPr>
          <a:xfrm>
            <a:off x="8013192" y="2057400"/>
            <a:ext cx="3416808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tate 2 accent"/>
          <p:cNvSpPr/>
          <p:nvPr/>
        </p:nvSpPr>
        <p:spPr>
          <a:xfrm>
            <a:off x="8013192" y="2057400"/>
            <a:ext cx="3416808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1792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241792" y="2834640"/>
            <a:ext cx="295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41792" y="3200400"/>
            <a:ext cx="295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Fully explored, no cycle through it</a:t>
            </a:r>
            <a:endParaRPr lang="en-US" sz="1300" dirty="0"/>
          </a:p>
        </p:txBody>
      </p:sp>
      <p:sp>
        <p:nvSpPr>
          <p:cNvPr id="19" name="bullets"/>
          <p:cNvSpPr txBox="1"/>
          <p:nvPr/>
        </p:nvSpPr>
        <p:spPr>
          <a:xfrm>
            <a:off x="758952" y="41148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Edge to a state-1 node is a back-edge, so a cycle exists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The </a:t>
            </a: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400" dirty="0">
                <a:solidFill>
                  <a:schemeClr val="accent6"/>
                </a:solidFill>
              </a:rPr>
              <a:t> list is sliced from that node to return the exact cycle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State 2 nodes are skipped, so each vertex and edge is processed once</a:t>
            </a:r>
            <a:endParaRPr lang="en-US" sz="1400" dirty="0"/>
          </a:p>
        </p:txBody>
      </p:sp>
      <p:sp>
        <p:nvSpPr>
          <p:cNvPr id="20" name="bullets"/>
          <p:cNvSpPr txBox="1"/>
          <p:nvPr/>
        </p:nvSpPr>
        <p:spPr>
          <a:xfrm>
            <a:off x="6309360" y="41148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6"/>
                </a:solidFill>
              </a:rPr>
              <a:t>Victim policy</a:t>
            </a:r>
            <a:r>
              <a:rPr lang="en-US" sz="1400" dirty="0">
                <a:solidFill>
                  <a:schemeClr val="accent6"/>
                </a:solidFill>
              </a:rPr>
              <a:t>: last node of the cycle is aborted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check_and_resolve</a:t>
            </a:r>
            <a:r>
              <a:rPr lang="en-US" sz="1400" dirty="0">
                <a:solidFill>
                  <a:schemeClr val="accent6"/>
                </a:solidFill>
              </a:rPr>
              <a:t> loops until no cycle remains, handling multiple cycles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Returns the aborted victims list to the caller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06 · BACKEND ARCHITECTURE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FastAPI microservice instead of a monolithic script</a:t>
            </a:r>
            <a:endParaRPr lang="en-US" sz="28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2011680"/>
          <a:ext cx="1067104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53675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 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process, local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client over HTTP, served by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checks scattered in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v2 </a:t>
                      </a: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LockRequest</a:t>
                      </a: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model rejects bad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OpenAPI / Swagger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C++, any REST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Uncaught crashes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HTTP 400 responses via </a:t>
                      </a: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HTTPException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and rerun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scenarios over the network, reset on 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ote box"/>
          <p:cNvSpPr/>
          <p:nvPr/>
        </p:nvSpPr>
        <p:spPr>
          <a:xfrm>
            <a:off x="758952" y="5486400"/>
            <a:ext cx="10671048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note accent"/>
          <p:cNvSpPr/>
          <p:nvPr/>
        </p:nvSpPr>
        <p:spPr>
          <a:xfrm>
            <a:off x="758952" y="5486400"/>
            <a:ext cx="4572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note text"/>
          <p:cNvSpPr txBox="1"/>
          <p:nvPr/>
        </p:nvSpPr>
        <p:spPr>
          <a:xfrm>
            <a:off x="987552" y="5486400"/>
            <a:ext cx="10305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Pinned dependencies</a:t>
            </a:r>
            <a:r>
              <a:rPr lang="en-US" sz="1300" dirty="0">
                <a:solidFill>
                  <a:schemeClr val="accent6"/>
                </a:solidFill>
              </a:rPr>
              <a:t> (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requirement.txt</a:t>
            </a:r>
            <a:r>
              <a:rPr lang="en-US" sz="1300" dirty="0">
                <a:solidFill>
                  <a:schemeClr val="accent6"/>
                </a:solidFill>
              </a:rPr>
              <a:t>):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0.110.0</a:t>
            </a:r>
            <a:r>
              <a:rPr lang="en-US" sz="1300" dirty="0">
                <a:solidFill>
                  <a:schemeClr val="accent6"/>
                </a:solidFill>
              </a:rPr>
              <a:t> ·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0.28.0</a:t>
            </a:r>
            <a:r>
              <a:rPr lang="en-US" sz="1300" dirty="0">
                <a:solidFill>
                  <a:schemeClr val="accent6"/>
                </a:solidFill>
              </a:rPr>
              <a:t> ·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 2.31.0</a:t>
            </a:r>
            <a:r>
              <a:rPr lang="en-US" sz="1300" dirty="0">
                <a:solidFill>
                  <a:schemeClr val="accent6"/>
                </a:solidFill>
              </a:rPr>
              <a:t> ·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 2.6.4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07 · API REFERENCE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endpoints cover the full lifecycle of a lock request</a:t>
            </a:r>
            <a:endParaRPr lang="en-US" sz="2800" dirty="0"/>
          </a:p>
        </p:txBody>
      </p:sp>
      <p:graphicFrame>
        <p:nvGraphicFramePr>
          <p:cNvPr id="8" name="a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2103120"/>
          <a:ext cx="106710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6830568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/request-lock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the wait edge, runs detection, aborts victims if needed. Body: </a:t>
                      </a: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{"requester","holder"}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current Wait-For Graph as 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fresh engine for a clean test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ote box"/>
          <p:cNvSpPr/>
          <p:nvPr/>
        </p:nvSpPr>
        <p:spPr>
          <a:xfrm>
            <a:off x="758952" y="4663440"/>
            <a:ext cx="10671048" cy="7315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note accent"/>
          <p:cNvSpPr/>
          <p:nvPr/>
        </p:nvSpPr>
        <p:spPr>
          <a:xfrm>
            <a:off x="758952" y="4663440"/>
            <a:ext cx="45720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note text"/>
          <p:cNvSpPr txBox="1"/>
          <p:nvPr/>
        </p:nvSpPr>
        <p:spPr>
          <a:xfrm>
            <a:off x="987552" y="4663440"/>
            <a:ext cx="10305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Response fields</a:t>
            </a:r>
            <a:r>
              <a:rPr lang="en-US" sz="1300" dirty="0">
                <a:solidFill>
                  <a:schemeClr val="accent6"/>
                </a:solidFill>
              </a:rPr>
              <a:t>: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sz="1300" dirty="0">
                <a:solidFill>
                  <a:schemeClr val="accent6"/>
                </a:solidFill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300" dirty="0">
                <a:solidFill>
                  <a:schemeClr val="accent6"/>
                </a:solidFill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current_graph</a:t>
            </a:r>
            <a:r>
              <a:rPr lang="en-US" sz="1300" dirty="0">
                <a:solidFill>
                  <a:schemeClr val="accent6"/>
                </a:solidFill>
              </a:rPr>
              <a:t>,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deadlock_detected</a:t>
            </a:r>
            <a:r>
              <a:rPr lang="en-US" sz="1300" dirty="0">
                <a:solidFill>
                  <a:schemeClr val="accent6"/>
                </a:solidFill>
              </a:rPr>
              <a:t>, and </a:t>
            </a: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aborted_victims</a:t>
            </a:r>
            <a:r>
              <a:rPr lang="en-US" sz="1300" dirty="0">
                <a:solidFill>
                  <a:schemeClr val="accent6"/>
                </a:solidFill>
              </a:rPr>
              <a:t> when a cycle was broken. Invalid requests return HTTP 400.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08 · LIVE SIMULATION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 automated Python harness drives the engine over HTTP</a:t>
            </a:r>
            <a:endParaRPr lang="en-US" sz="2800" dirty="0"/>
          </a:p>
        </p:txBody>
      </p:sp>
      <p:sp>
        <p:nvSpPr>
          <p:cNvPr id="4" name="bullets"/>
          <p:cNvSpPr txBox="1"/>
          <p:nvPr/>
        </p:nvSpPr>
        <p:spPr>
          <a:xfrm>
            <a:off x="758952" y="21031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test_client.py</a:t>
            </a:r>
            <a:r>
              <a:rPr lang="en-US" sz="1450" dirty="0">
                <a:solidFill>
                  <a:schemeClr val="accent6"/>
                </a:solidFill>
              </a:rPr>
              <a:t> uses </a:t>
            </a:r>
            <a:r>
              <a:rPr lang="en-US" sz="14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r>
              <a:rPr lang="en-US" sz="1450" dirty="0">
                <a:solidFill>
                  <a:schemeClr val="accent6"/>
                </a:solidFill>
              </a:rPr>
              <a:t>, base URL </a:t>
            </a:r>
            <a:r>
              <a:rPr lang="en-US" sz="14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127.0.0.1:8000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accent6"/>
                </a:solidFill>
              </a:rPr>
              <a:t>Calls </a:t>
            </a:r>
            <a:r>
              <a:rPr lang="en-US" sz="14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/reset</a:t>
            </a:r>
            <a:r>
              <a:rPr lang="en-US" sz="1450" dirty="0">
                <a:solidFill>
                  <a:schemeClr val="accent6"/>
                </a:solidFill>
              </a:rPr>
              <a:t>, then waits 0.5 s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accent6"/>
                </a:solidFill>
              </a:rPr>
              <a:t>Sends three </a:t>
            </a:r>
            <a:r>
              <a:rPr lang="en-US" sz="14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/request-lock</a:t>
            </a:r>
            <a:r>
              <a:rPr lang="en-US" sz="1450" dirty="0">
                <a:solidFill>
                  <a:schemeClr val="accent6"/>
                </a:solidFill>
              </a:rPr>
              <a:t> events with a 1 s pause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accent6"/>
                </a:solidFill>
              </a:rPr>
              <a:t>Prints message, graph and a deadlock alert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accent6"/>
                </a:solidFill>
              </a:rPr>
              <a:t>Catches </a:t>
            </a:r>
            <a:r>
              <a:rPr lang="en-US" sz="14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ConnectionError</a:t>
            </a:r>
            <a:r>
              <a:rPr lang="en-US" sz="1450" dirty="0">
                <a:solidFill>
                  <a:schemeClr val="accent6"/>
                </a:solidFill>
              </a:rPr>
              <a:t> if the server is down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chemeClr val="accent6"/>
                </a:solidFill>
              </a:rPr>
              <a:t>Run server: </a:t>
            </a:r>
            <a:r>
              <a:rPr lang="en-US" sz="14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app:app --reload</a:t>
            </a:r>
            <a:endParaRPr lang="en-US" sz="1450" dirty="0"/>
          </a:p>
        </p:txBody>
      </p:sp>
      <p:sp>
        <p:nvSpPr>
          <p:cNvPr id="5" name="code box"/>
          <p:cNvSpPr/>
          <p:nvPr/>
        </p:nvSpPr>
        <p:spPr>
          <a:xfrm>
            <a:off x="6400800" y="2103120"/>
            <a:ext cx="502920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/>
        </p:spPr>
      </p:sp>
      <p:sp>
        <p:nvSpPr>
          <p:cNvPr id="6" name="code text"/>
          <p:cNvSpPr txBox="1"/>
          <p:nvPr/>
        </p:nvSpPr>
        <p:spPr>
          <a:xfrm>
            <a:off x="6629400" y="22860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Tx1 -&gt; Tx2   # chain, safe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Tx2 -&gt; Tx3   # chain, safe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Tx3 -&gt; Tx1   # closes loop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on step 3: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deadlock_detected = true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aborted_victims   = ["Tx3"]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09 · DEADLOCK TRIGGER &amp; RESOLUTION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Request 3 closes the loop; Tx3 is aborted and the cycle breaks</a:t>
            </a:r>
            <a:endParaRPr lang="en-US" sz="2800" dirty="0"/>
          </a:p>
        </p:txBody>
      </p:sp>
      <p:sp>
        <p:nvSpPr>
          <p:cNvPr id="4" name="Step 1 card"/>
          <p:cNvSpPr/>
          <p:nvPr/>
        </p:nvSpPr>
        <p:spPr>
          <a:xfrm>
            <a:off x="758952" y="2057400"/>
            <a:ext cx="341680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tep 1 accent"/>
          <p:cNvSpPr/>
          <p:nvPr/>
        </p:nvSpPr>
        <p:spPr>
          <a:xfrm>
            <a:off x="758952" y="2057400"/>
            <a:ext cx="3416808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ag Step 1"/>
          <p:cNvSpPr/>
          <p:nvPr/>
        </p:nvSpPr>
        <p:spPr>
          <a:xfrm>
            <a:off x="987552" y="22860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69748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Tx1 → Tx2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108960"/>
            <a:ext cx="295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deadlock: false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520440"/>
            <a:ext cx="2959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{Tx1:[Tx2], Tx2:[]}</a:t>
            </a:r>
            <a:endParaRPr lang="en-US" sz="1250" dirty="0"/>
          </a:p>
        </p:txBody>
      </p:sp>
      <p:sp>
        <p:nvSpPr>
          <p:cNvPr id="10" name="Step 2 card"/>
          <p:cNvSpPr/>
          <p:nvPr/>
        </p:nvSpPr>
        <p:spPr>
          <a:xfrm>
            <a:off x="4386072" y="2057400"/>
            <a:ext cx="341680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tep 2 accent"/>
          <p:cNvSpPr/>
          <p:nvPr/>
        </p:nvSpPr>
        <p:spPr>
          <a:xfrm>
            <a:off x="4386072" y="2057400"/>
            <a:ext cx="3416808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ag Step 2"/>
          <p:cNvSpPr/>
          <p:nvPr/>
        </p:nvSpPr>
        <p:spPr>
          <a:xfrm>
            <a:off x="4614672" y="22860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4672" y="269748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Tx2 → Tx3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4672" y="3108960"/>
            <a:ext cx="295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deadlock: false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14672" y="3520440"/>
            <a:ext cx="2959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{Tx1:[Tx2], Tx2:[Tx3], Tx3:[]}</a:t>
            </a:r>
            <a:endParaRPr lang="en-US" sz="1250" dirty="0"/>
          </a:p>
        </p:txBody>
      </p:sp>
      <p:sp>
        <p:nvSpPr>
          <p:cNvPr id="16" name="Step 3 card"/>
          <p:cNvSpPr/>
          <p:nvPr/>
        </p:nvSpPr>
        <p:spPr>
          <a:xfrm>
            <a:off x="8013192" y="2057400"/>
            <a:ext cx="3416808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tep 3 accent"/>
          <p:cNvSpPr/>
          <p:nvPr/>
        </p:nvSpPr>
        <p:spPr>
          <a:xfrm>
            <a:off x="8013192" y="2057400"/>
            <a:ext cx="3416808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ag Step 3"/>
          <p:cNvSpPr/>
          <p:nvPr/>
        </p:nvSpPr>
        <p:spPr>
          <a:xfrm>
            <a:off x="8241792" y="22860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41792" y="2697480"/>
            <a:ext cx="295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Tx3 → Tx1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41792" y="3108960"/>
            <a:ext cx="295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deadlock: true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41792" y="3520440"/>
            <a:ext cx="2959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aborted: [Tx3]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Pruned: {Tx1:[Tx2], Tx2:[]}</a:t>
            </a:r>
            <a:endParaRPr lang="en-US" sz="1250" dirty="0"/>
          </a:p>
        </p:txBody>
      </p:sp>
      <p:sp>
        <p:nvSpPr>
          <p:cNvPr id="22" name="note box"/>
          <p:cNvSpPr/>
          <p:nvPr/>
        </p:nvSpPr>
        <p:spPr>
          <a:xfrm>
            <a:off x="758952" y="4663440"/>
            <a:ext cx="10671048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note accent"/>
          <p:cNvSpPr/>
          <p:nvPr/>
        </p:nvSpPr>
        <p:spPr>
          <a:xfrm>
            <a:off x="758952" y="466344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note text"/>
          <p:cNvSpPr txBox="1"/>
          <p:nvPr/>
        </p:nvSpPr>
        <p:spPr>
          <a:xfrm>
            <a:off x="987552" y="4663440"/>
            <a:ext cx="10305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What happened</a:t>
            </a:r>
            <a:r>
              <a:rPr lang="en-US" sz="1300" dirty="0">
                <a:solidFill>
                  <a:schemeClr val="accent6"/>
                </a:solidFill>
              </a:rPr>
              <a:t>: the cycle Tx1 → Tx2 → Tx3 → Tx1 was found, Tx3 (last in the cycle) was removed with its edges, and the graph is acyclic again. Tx1 and Tx2 continue unaffected.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58952" y="50292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10 · LANGUAGE INTEROPERABILITY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822960"/>
            <a:ext cx="10671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Any language with HTTP can use the engine, including C++</a:t>
            </a:r>
            <a:endParaRPr lang="en-US" sz="2800" dirty="0"/>
          </a:p>
        </p:txBody>
      </p:sp>
      <p:sp>
        <p:nvSpPr>
          <p:cNvPr id="4" name="bullets"/>
          <p:cNvSpPr txBox="1"/>
          <p:nvPr/>
        </p:nvSpPr>
        <p:spPr>
          <a:xfrm>
            <a:off x="758952" y="21031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test_client.cpp</a:t>
            </a:r>
            <a:r>
              <a:rPr lang="en-US" sz="1500" dirty="0">
                <a:solidFill>
                  <a:schemeClr val="accent6"/>
                </a:solidFill>
              </a:rPr>
              <a:t> calls the REST API through </a:t>
            </a: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system()</a:t>
            </a:r>
            <a:r>
              <a:rPr lang="en-US" sz="1500" dirty="0">
                <a:solidFill>
                  <a:schemeClr val="accent6"/>
                </a:solidFill>
              </a:rPr>
              <a:t> and </a:t>
            </a: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Same sequence: reset, Tx1→Tx2, Tx2→Tx3, Tx3→Tx1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Compiled to </a:t>
            </a:r>
            <a:r>
              <a:rPr lang="en-US" sz="15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test_client.exe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JSON contract is language-neutral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No engine changes needed to add a client</a:t>
            </a:r>
            <a:endParaRPr lang="en-US" sz="1500" dirty="0"/>
          </a:p>
        </p:txBody>
      </p:sp>
      <p:sp>
        <p:nvSpPr>
          <p:cNvPr id="5" name="request path card"/>
          <p:cNvSpPr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request path accent"/>
          <p:cNvSpPr/>
          <p:nvPr/>
        </p:nvSpPr>
        <p:spPr>
          <a:xfrm>
            <a:off x="6400800" y="2103120"/>
            <a:ext cx="5029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Request path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834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(curl) / Python client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182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↓ HTTP + JSON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547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(Uvicorn)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895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↓ Pydantic validation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261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DeadlockEngine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608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↓ add edge, DFS, abort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9743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Wait-For Graph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828800"/>
            <a:ext cx="10671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11 · CONCLUSION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58952" y="2103120"/>
            <a:ext cx="10671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Deadlocks detected, resolved, served.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6118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Graph theory, Tri-State DFS in O(V+E), and a clean REST interface usable from Python and C++.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937760"/>
            <a:ext cx="10671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adlock Engine">
  <a:themeElements>
    <a:clrScheme name="Deadlock Engine">
      <a:dk1>
        <a:srgbClr val="0F172A"/>
      </a:dk1>
      <a:lt1>
        <a:srgbClr val="FFFFFF"/>
      </a:lt1>
      <a:dk2>
        <a:srgbClr val="0B1220"/>
      </a:dk2>
      <a:lt2>
        <a:srgbClr val="F1F5F9"/>
      </a:lt2>
      <a:accent1>
        <a:srgbClr val="2563EB"/>
      </a:accent1>
      <a:accent2>
        <a:srgbClr val="DC2626"/>
      </a:accent2>
      <a:accent3>
        <a:srgbClr val="16A34A"/>
      </a:accent3>
      <a:accent4>
        <a:srgbClr val="64748B"/>
      </a:accent4>
      <a:accent5>
        <a:srgbClr val="60A5FA"/>
      </a:accent5>
      <a:accent6>
        <a:srgbClr val="334155"/>
      </a:accent6>
      <a:hlink>
        <a:srgbClr val="2563EB"/>
      </a:hlink>
      <a:folHlink>
        <a:srgbClr val="64748B"/>
      </a:folHlink>
    </a:clrScheme>
    <a:fontScheme name="Deadlock Engi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Concurrency &amp; Deadlock Resolution Engine</dc:title>
  <dc:subject>PptxGenJS Presentation</dc:subject>
  <dc:creator>Shailya Patel, Shlok Shah</dc:creator>
  <cp:lastModifiedBy>Shailya Patel, Shlok Shah</cp:lastModifiedBy>
  <cp:revision>1</cp:revision>
  <dcterms:created xsi:type="dcterms:W3CDTF">2026-10-14T12:28:41Z</dcterms:created>
  <dcterms:modified xsi:type="dcterms:W3CDTF">2026-10-14T12:28:41Z</dcterms:modified>
</cp:coreProperties>
</file>